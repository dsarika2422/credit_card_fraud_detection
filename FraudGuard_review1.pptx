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5"/>
  </p:notesMasterIdLst>
  <p:sldIdLst>
    <p:sldId id="256" r:id="rId3"/>
    <p:sldId id="257" r:id="rId4"/>
    <p:sldId id="258" r:id="rId5"/>
    <p:sldId id="259" r:id="rId6"/>
    <p:sldId id="260" r:id="rId7"/>
    <p:sldId id="266" r:id="rId8"/>
    <p:sldId id="261" r:id="rId9"/>
    <p:sldId id="262" r:id="rId10"/>
    <p:sldId id="267" r:id="rId11"/>
    <p:sldId id="263" r:id="rId12"/>
    <p:sldId id="264" r:id="rId13"/>
    <p:sldId id="265" r:id="rId14"/>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65" autoAdjust="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ja Kusumitha" userId="2707e34f59af0ed9" providerId="LiveId" clId="{77382555-E474-45D1-8C43-890E283DAC6F}"/>
    <pc:docChg chg="custSel modSld">
      <pc:chgData name="Sajja Kusumitha" userId="2707e34f59af0ed9" providerId="LiveId" clId="{77382555-E474-45D1-8C43-890E283DAC6F}" dt="2026-03-05T03:57:09.866" v="48" actId="20577"/>
      <pc:docMkLst>
        <pc:docMk/>
      </pc:docMkLst>
      <pc:sldChg chg="modSp mod">
        <pc:chgData name="Sajja Kusumitha" userId="2707e34f59af0ed9" providerId="LiveId" clId="{77382555-E474-45D1-8C43-890E283DAC6F}" dt="2026-03-05T03:57:09.866" v="48" actId="20577"/>
        <pc:sldMkLst>
          <pc:docMk/>
          <pc:sldMk cId="0" sldId="257"/>
        </pc:sldMkLst>
        <pc:spChg chg="mod">
          <ac:chgData name="Sajja Kusumitha" userId="2707e34f59af0ed9" providerId="LiveId" clId="{77382555-E474-45D1-8C43-890E283DAC6F}" dt="2026-03-05T03:57:09.866" v="48" actId="20577"/>
          <ac:spMkLst>
            <pc:docMk/>
            <pc:sldMk cId="0" sldId="257"/>
            <ac:spMk id="8" creationId="{00000000-0000-0000-0000-000000000000}"/>
          </ac:spMkLst>
        </pc:spChg>
      </pc:sldChg>
      <pc:sldChg chg="addSp delSp modSp mod">
        <pc:chgData name="Sajja Kusumitha" userId="2707e34f59af0ed9" providerId="LiveId" clId="{77382555-E474-45D1-8C43-890E283DAC6F}" dt="2026-03-05T03:56:34.519" v="14" actId="14100"/>
        <pc:sldMkLst>
          <pc:docMk/>
          <pc:sldMk cId="2762340321" sldId="261"/>
        </pc:sldMkLst>
        <pc:spChg chg="del mod">
          <ac:chgData name="Sajja Kusumitha" userId="2707e34f59af0ed9" providerId="LiveId" clId="{77382555-E474-45D1-8C43-890E283DAC6F}" dt="2026-03-05T03:56:09.295" v="7" actId="478"/>
          <ac:spMkLst>
            <pc:docMk/>
            <pc:sldMk cId="2762340321" sldId="261"/>
            <ac:spMk id="9" creationId="{552B6941-B56F-78EF-6572-0086C4B21BD4}"/>
          </ac:spMkLst>
        </pc:spChg>
        <pc:spChg chg="mod">
          <ac:chgData name="Sajja Kusumitha" userId="2707e34f59af0ed9" providerId="LiveId" clId="{77382555-E474-45D1-8C43-890E283DAC6F}" dt="2026-03-05T03:48:05.201" v="3" actId="20577"/>
          <ac:spMkLst>
            <pc:docMk/>
            <pc:sldMk cId="2762340321" sldId="261"/>
            <ac:spMk id="10" creationId="{2201DB43-9F00-00F7-5CD5-CA9274B825F2}"/>
          </ac:spMkLst>
        </pc:spChg>
        <pc:picChg chg="add mod">
          <ac:chgData name="Sajja Kusumitha" userId="2707e34f59af0ed9" providerId="LiveId" clId="{77382555-E474-45D1-8C43-890E283DAC6F}" dt="2026-03-05T03:56:34.519" v="14" actId="14100"/>
          <ac:picMkLst>
            <pc:docMk/>
            <pc:sldMk cId="2762340321" sldId="261"/>
            <ac:picMk id="4" creationId="{B57F3E4D-40C8-EC3E-37B4-DA7033933614}"/>
          </ac:picMkLst>
        </pc:picChg>
      </pc:sldChg>
      <pc:sldChg chg="modSp mod">
        <pc:chgData name="Sajja Kusumitha" userId="2707e34f59af0ed9" providerId="LiveId" clId="{77382555-E474-45D1-8C43-890E283DAC6F}" dt="2026-03-05T03:48:18.139" v="5" actId="20577"/>
        <pc:sldMkLst>
          <pc:docMk/>
          <pc:sldMk cId="0" sldId="265"/>
        </pc:sldMkLst>
        <pc:spChg chg="mod">
          <ac:chgData name="Sajja Kusumitha" userId="2707e34f59af0ed9" providerId="LiveId" clId="{77382555-E474-45D1-8C43-890E283DAC6F}" dt="2026-03-05T03:48:18.139" v="5" actId="20577"/>
          <ac:spMkLst>
            <pc:docMk/>
            <pc:sldMk cId="0" sldId="265"/>
            <ac:spMk id="4" creationId="{AB03FB2E-4E33-CA9A-E5FC-A215D8D28E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3/5/2026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8864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05-03-2026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05-03-2026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05-03-2026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05-03-2026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05-03-2026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05-03-2026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document/8716026" TargetMode="External"/><Relationship Id="rId7" Type="http://schemas.openxmlformats.org/officeDocument/2006/relationships/hyperlink" Target="https://ieeexplore.ieee.org/document/8489313"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sciencedirect.com/science/article/pii/S187705091731982X" TargetMode="External"/><Relationship Id="rId5" Type="http://schemas.openxmlformats.org/officeDocument/2006/relationships/hyperlink" Target="https://arxiv.org/abs/1908.04263" TargetMode="External"/><Relationship Id="rId4" Type="http://schemas.openxmlformats.org/officeDocument/2006/relationships/hyperlink" Target="https://link.springer.com/article/10.1007/s00521-020-04844-7"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ieeexplore.ieee.org/document/8454906" TargetMode="External"/><Relationship Id="rId7" Type="http://schemas.openxmlformats.org/officeDocument/2006/relationships/hyperlink" Target="https://www.sciencedirect.com/science/article/pii/S0957417419301622"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ieeexplore.ieee.org/document/8074713" TargetMode="External"/><Relationship Id="rId5" Type="http://schemas.openxmlformats.org/officeDocument/2006/relationships/hyperlink" Target="https://arxiv.org/abs/2003.06558" TargetMode="External"/><Relationship Id="rId4" Type="http://schemas.openxmlformats.org/officeDocument/2006/relationships/hyperlink" Target="https://link.springer.com/article/10.1007/s11042-019-08417-3"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kafka.apache.org/" TargetMode="External"/><Relationship Id="rId2" Type="http://schemas.openxmlformats.org/officeDocument/2006/relationships/hyperlink" Target="https://spark.apache.org/"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kaggle.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31260" y="797835"/>
            <a:ext cx="10515600" cy="1128395"/>
          </a:xfrm>
        </p:spPr>
        <p:txBody>
          <a:bodyPr>
            <a:noAutofit/>
          </a:bodyPr>
          <a:lstStyle/>
          <a:p>
            <a:pPr algn="ctr">
              <a:lnSpc>
                <a:spcPct val="100000"/>
              </a:lnSpc>
            </a:pPr>
            <a:r>
              <a:rPr lang="da-DK" sz="3200" b="1" dirty="0">
                <a:solidFill>
                  <a:schemeClr val="accent5">
                    <a:lumMod val="60000"/>
                    <a:lumOff val="40000"/>
                  </a:schemeClr>
                </a:solidFill>
                <a:latin typeface="Times New Roman" panose="02020603050405020304" pitchFamily="18" charset="0"/>
                <a:cs typeface="Times New Roman" panose="02020603050405020304" pitchFamily="18" charset="0"/>
              </a:rPr>
              <a:t>Credit Card Fraud Detection</a:t>
            </a:r>
            <a:br>
              <a:rPr lang="da-DK" sz="800" b="1" dirty="0">
                <a:solidFill>
                  <a:schemeClr val="accent5">
                    <a:lumMod val="60000"/>
                    <a:lumOff val="40000"/>
                  </a:schemeClr>
                </a:solidFill>
                <a:latin typeface="Times New Roman" panose="02020603050405020304" pitchFamily="18" charset="0"/>
                <a:cs typeface="Times New Roman" panose="02020603050405020304" pitchFamily="18" charset="0"/>
              </a:rPr>
            </a:b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74419" y="1877449"/>
            <a:ext cx="10515600" cy="2639288"/>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Members </a:t>
            </a:r>
            <a:endParaRPr lang="en-IN" sz="800" b="1" dirty="0">
              <a:latin typeface="Times New Roman" panose="02020603050405020304" pitchFamily="18" charset="0"/>
              <a:cs typeface="Times New Roman" panose="02020603050405020304" pitchFamily="18" charset="0"/>
            </a:endParaRPr>
          </a:p>
          <a:p>
            <a:pPr marL="0" indent="0" algn="ctr">
              <a:buNone/>
            </a:pPr>
            <a:endParaRPr lang="en-IN" sz="800" b="1" dirty="0">
              <a:latin typeface="Times New Roman" panose="02020603050405020304" pitchFamily="18" charset="0"/>
              <a:cs typeface="Times New Roman" panose="02020603050405020304" pitchFamily="18" charset="0"/>
            </a:endParaRPr>
          </a:p>
          <a:p>
            <a:pPr marL="0" indent="0" algn="ctr">
              <a:buNone/>
            </a:pPr>
            <a:r>
              <a:rPr lang="en-IN" sz="2000" b="1" dirty="0">
                <a:latin typeface="Times New Roman" panose="02020603050405020304" pitchFamily="18" charset="0"/>
                <a:cs typeface="Times New Roman" panose="02020603050405020304" pitchFamily="18" charset="0"/>
              </a:rPr>
              <a:t>Roll No		Name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2320030223     B. Varshitha</a:t>
            </a:r>
          </a:p>
          <a:p>
            <a:pPr marL="0" indent="0" algn="just">
              <a:buNone/>
            </a:pPr>
            <a:r>
              <a:rPr lang="en-US" sz="2000" dirty="0">
                <a:latin typeface="Times New Roman" panose="02020603050405020304" pitchFamily="18" charset="0"/>
                <a:cs typeface="Times New Roman" panose="02020603050405020304" pitchFamily="18" charset="0"/>
              </a:rPr>
              <a:t>                                                            2320090045     D. Sarika</a:t>
            </a:r>
          </a:p>
          <a:p>
            <a:pPr marL="0" indent="0" algn="just">
              <a:buNone/>
            </a:pPr>
            <a:r>
              <a:rPr lang="en-US" sz="2000" dirty="0">
                <a:latin typeface="Times New Roman" panose="02020603050405020304" pitchFamily="18" charset="0"/>
                <a:cs typeface="Times New Roman" panose="02020603050405020304" pitchFamily="18" charset="0"/>
              </a:rPr>
              <a:t>                                                            2320090076     V. Vaishnavi</a:t>
            </a:r>
          </a:p>
          <a:p>
            <a:pPr marL="0" indent="0" algn="ctr">
              <a:buNone/>
            </a:pPr>
            <a:endParaRPr lang="en-US" sz="2000"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05-03-2026</a:t>
            </a:fld>
            <a:endParaRPr lang="en-US"/>
          </a:p>
        </p:txBody>
      </p:sp>
      <p:sp>
        <p:nvSpPr>
          <p:cNvPr id="9" name="Content Placeholder 3"/>
          <p:cNvSpPr txBox="1"/>
          <p:nvPr/>
        </p:nvSpPr>
        <p:spPr>
          <a:xfrm>
            <a:off x="970334" y="5316412"/>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1331260" y="3322663"/>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just">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15" y="525093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215143"/>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535989"/>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05-03-2026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1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05284"/>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433293"/>
            <a:ext cx="10515600" cy="5105619"/>
          </a:xfrm>
        </p:spPr>
        <p:txBody>
          <a:bodyPr>
            <a:normAutofit/>
          </a:bodyPr>
          <a:lstStyle/>
          <a:p>
            <a:r>
              <a:rPr lang="en-US" sz="2000" dirty="0"/>
              <a:t>Financial institutions process millions of credit card transactions </a:t>
            </a:r>
          </a:p>
          <a:p>
            <a:r>
              <a:rPr lang="en-US" sz="2000" dirty="0">
                <a:latin typeface="Times New Roman" panose="02020603050405020304" pitchFamily="18" charset="0"/>
                <a:cs typeface="Times New Roman" panose="02020603050405020304" pitchFamily="18" charset="0"/>
              </a:rPr>
              <a:t>With the rise of online payments, fraudulent activities are increasing rapidly.</a:t>
            </a:r>
          </a:p>
          <a:p>
            <a:r>
              <a:rPr lang="en-US" sz="2000" dirty="0">
                <a:latin typeface="Times New Roman" panose="02020603050405020304" pitchFamily="18" charset="0"/>
                <a:cs typeface="Times New Roman" panose="02020603050405020304" pitchFamily="18" charset="0"/>
              </a:rPr>
              <a:t>Traditional fraud detection systems rely on batch processing and cannot detect fraud instantly.</a:t>
            </a:r>
          </a:p>
          <a:p>
            <a:r>
              <a:rPr lang="en-US" sz="2000" dirty="0">
                <a:latin typeface="Times New Roman" panose="02020603050405020304" pitchFamily="18" charset="0"/>
                <a:cs typeface="Times New Roman" panose="02020603050405020304" pitchFamily="18" charset="0"/>
              </a:rPr>
              <a:t>This project proposes a real-time fraud detection system using streaming data processing and machine learning.</a:t>
            </a:r>
          </a:p>
          <a:p>
            <a:r>
              <a:rPr lang="en-US" sz="2000" b="1" dirty="0">
                <a:latin typeface="Times New Roman" panose="02020603050405020304" pitchFamily="18" charset="0"/>
                <a:cs typeface="Times New Roman" panose="02020603050405020304" pitchFamily="18" charset="0"/>
              </a:rPr>
              <a:t>Applications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Banking Security</a:t>
            </a:r>
          </a:p>
          <a:p>
            <a:r>
              <a:rPr lang="en-US" sz="2000" dirty="0">
                <a:latin typeface="Times New Roman" panose="02020603050405020304" pitchFamily="18" charset="0"/>
                <a:cs typeface="Times New Roman" panose="02020603050405020304" pitchFamily="18" charset="0"/>
              </a:rPr>
              <a:t>Payment gateway monitoring </a:t>
            </a:r>
          </a:p>
          <a:p>
            <a:r>
              <a:rPr lang="en-US" sz="2000" dirty="0">
                <a:latin typeface="Times New Roman" panose="02020603050405020304" pitchFamily="18" charset="0"/>
                <a:cs typeface="Times New Roman" panose="02020603050405020304" pitchFamily="18" charset="0"/>
              </a:rPr>
              <a:t>Financial risk management</a:t>
            </a:r>
          </a:p>
          <a:p>
            <a:r>
              <a:rPr lang="en-US" sz="2000" dirty="0">
                <a:latin typeface="Times New Roman" panose="02020603050405020304" pitchFamily="18" charset="0"/>
                <a:cs typeface="Times New Roman" panose="02020603050405020304" pitchFamily="18" charset="0"/>
              </a:rPr>
              <a:t>Fraud prevention systems </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05-03-2026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62810" y="482363"/>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18552"/>
            <a:ext cx="10515600" cy="5002923"/>
          </a:xfrm>
        </p:spPr>
        <p:txBody>
          <a:bodyPr>
            <a:normAutofit/>
          </a:bodyPr>
          <a:lstStyle/>
          <a:p>
            <a:pPr marL="0" indent="0">
              <a:buNone/>
            </a:pPr>
            <a:endParaRPr lang="en-US" sz="2000" dirty="0"/>
          </a:p>
          <a:p>
            <a:pPr marL="0" indent="0">
              <a:buNone/>
            </a:pPr>
            <a:r>
              <a:rPr lang="en-US" sz="2000" dirty="0">
                <a:latin typeface="Times New Roman" panose="02020603050405020304" pitchFamily="18" charset="0"/>
                <a:cs typeface="Times New Roman" panose="02020603050405020304" pitchFamily="18" charset="0"/>
              </a:rPr>
              <a:t>The main objectives of this project are:</a:t>
            </a:r>
          </a:p>
          <a:p>
            <a:pPr marL="0" indent="0">
              <a:buNone/>
            </a:pPr>
            <a:endParaRPr 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Detect fraudulent credit card transactions in real time.</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Stream transaction data using Apache Kafka.</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Process large scale data using Apache Spark Structured Streaming.</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sz="2000" dirty="0">
                <a:latin typeface="Times New Roman" panose="02020603050405020304" pitchFamily="18" charset="0"/>
                <a:cs typeface="Times New Roman" panose="02020603050405020304" pitchFamily="18" charset="0"/>
              </a:rPr>
              <a:t>Apply machine learning models for fraud prediction.</a:t>
            </a:r>
          </a:p>
          <a:p>
            <a:pPr marL="342900" lvl="0" indent="-342900" eaLnBrk="0" fontAlgn="base" hangingPunct="0">
              <a:lnSpc>
                <a:spcPct val="100000"/>
              </a:lnSpc>
              <a:spcBef>
                <a:spcPct val="0"/>
              </a:spcBef>
              <a:spcAft>
                <a:spcPct val="0"/>
              </a:spcAft>
              <a:buFont typeface="+mj-lt"/>
              <a:buAutoNum type="arabicPeriod"/>
            </a:pPr>
            <a:endParaRPr lang="en-US" altLang="en-US" sz="2000" dirty="0">
              <a:latin typeface="Times New Roman" panose="02020603050405020304" pitchFamily="18" charset="0"/>
              <a:cs typeface="Times New Roman" panose="02020603050405020304" pitchFamily="18" charset="0"/>
            </a:endParaRPr>
          </a:p>
          <a:p>
            <a:pPr marL="342900" lvl="0" indent="-342900" eaLnBrk="0" fontAlgn="base" hangingPunct="0">
              <a:lnSpc>
                <a:spcPct val="100000"/>
              </a:lnSpc>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Visualize fraud analytics using an interactive dashboard.</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05-03-2026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314183" y="0"/>
            <a:ext cx="10173182" cy="1128009"/>
          </a:xfrm>
        </p:spPr>
        <p:txBody>
          <a:bodyPr/>
          <a:lstStyle/>
          <a:p>
            <a:pPr algn="ctr"/>
            <a:r>
              <a:rPr lang="en-IN" b="1" dirty="0">
                <a:latin typeface="Times New Roman" panose="02020603050405020304" pitchFamily="18" charset="0"/>
                <a:cs typeface="Times New Roman" panose="02020603050405020304" pitchFamily="18" charset="0"/>
              </a:rPr>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9E0910E8-64C1-D3C8-E650-99B21DBB429D}"/>
              </a:ext>
            </a:extLst>
          </p:cNvPr>
          <p:cNvGraphicFramePr>
            <a:graphicFrameLocks noGrp="1"/>
          </p:cNvGraphicFramePr>
          <p:nvPr>
            <p:ph idx="1"/>
            <p:extLst>
              <p:ext uri="{D42A27DB-BD31-4B8C-83A1-F6EECF244321}">
                <p14:modId xmlns:p14="http://schemas.microsoft.com/office/powerpoint/2010/main" val="2271262435"/>
              </p:ext>
            </p:extLst>
          </p:nvPr>
        </p:nvGraphicFramePr>
        <p:xfrm>
          <a:off x="184935" y="952500"/>
          <a:ext cx="11815281" cy="5936227"/>
        </p:xfrm>
        <a:graphic>
          <a:graphicData uri="http://schemas.openxmlformats.org/drawingml/2006/table">
            <a:tbl>
              <a:tblPr/>
              <a:tblGrid>
                <a:gridCol w="2917824">
                  <a:extLst>
                    <a:ext uri="{9D8B030D-6E8A-4147-A177-3AD203B41FA5}">
                      <a16:colId xmlns:a16="http://schemas.microsoft.com/office/drawing/2014/main" val="2914338365"/>
                    </a:ext>
                  </a:extLst>
                </a:gridCol>
                <a:gridCol w="2955141">
                  <a:extLst>
                    <a:ext uri="{9D8B030D-6E8A-4147-A177-3AD203B41FA5}">
                      <a16:colId xmlns:a16="http://schemas.microsoft.com/office/drawing/2014/main" val="84625793"/>
                    </a:ext>
                  </a:extLst>
                </a:gridCol>
                <a:gridCol w="2976497">
                  <a:extLst>
                    <a:ext uri="{9D8B030D-6E8A-4147-A177-3AD203B41FA5}">
                      <a16:colId xmlns:a16="http://schemas.microsoft.com/office/drawing/2014/main" val="2110254283"/>
                    </a:ext>
                  </a:extLst>
                </a:gridCol>
                <a:gridCol w="2965819">
                  <a:extLst>
                    <a:ext uri="{9D8B030D-6E8A-4147-A177-3AD203B41FA5}">
                      <a16:colId xmlns:a16="http://schemas.microsoft.com/office/drawing/2014/main" val="671031542"/>
                    </a:ext>
                  </a:extLst>
                </a:gridCol>
              </a:tblGrid>
              <a:tr h="376903">
                <a:tc>
                  <a:txBody>
                    <a:bodyPr/>
                    <a:lstStyle/>
                    <a:p>
                      <a:r>
                        <a:rPr lang="en-IN" dirty="0"/>
                        <a:t>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Reference 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Drawback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Future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224936">
                <a:tc>
                  <a:txBody>
                    <a:bodyPr/>
                    <a:lstStyle/>
                    <a:p>
                      <a:r>
                        <a:rPr lang="en-US"/>
                        <a:t>Credit Card Fraud Detection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hlinkClick r:id="rId3"/>
                        </a:rPr>
                        <a:t>https://ieeexplore.ieee.org/document/8716026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Limited performance when handling extremely imbalanced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advanced sampling techniques and ensemble learning models to improve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224936">
                <a:tc>
                  <a:txBody>
                    <a:bodyPr/>
                    <a:lstStyle/>
                    <a:p>
                      <a:r>
                        <a:rPr lang="en-US"/>
                        <a:t>Real-Time Credit Card Fraud Detection Using Streaming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hlinkClick r:id="rId4"/>
                        </a:rPr>
                        <a:t>https://link.springer.com/article/10.1007/s00521-020-04844-7</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computational cost for real-time processing of massive transaction streams.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Optimization using distributed streaming frameworks like Apache Spark.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1224936">
                <a:tc>
                  <a:txBody>
                    <a:bodyPr/>
                    <a:lstStyle/>
                    <a:p>
                      <a:r>
                        <a:rPr lang="en-US"/>
                        <a:t>Credit Card Fraud Detection with Deep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5"/>
                        </a:rPr>
                        <a:t>https://arxiv.org/abs/1908.04263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Deep learning models require large labeled datasets and high computational resources.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Improve model efficiency using hybrid ML and deep learning approaches.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942258">
                <a:tc>
                  <a:txBody>
                    <a:bodyPr/>
                    <a:lstStyle/>
                    <a:p>
                      <a:r>
                        <a:rPr lang="en-US"/>
                        <a:t>Fraud Detection in Financial Transactions Using Big Data Analytics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6"/>
                        </a:rPr>
                        <a:t>https://www.sciencedirect.com/science/article/pii/S187705091731982X</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Difficult integration of big data technologies with traditional banking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Develop scalable cloud-based architectures for seamless integration.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942258">
                <a:tc>
                  <a:txBody>
                    <a:bodyPr/>
                    <a:lstStyle/>
                    <a:p>
                      <a:r>
                        <a:rPr lang="en-US"/>
                        <a:t>Anomaly Detection for Fraud Transactions Using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7"/>
                        </a:rPr>
                        <a:t>https://ieeexplore.ieee.org/document/8489313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false positive rate affecting legitimate transactions.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Improve anomaly detection algorithms and feature engineering methods.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F11478-B7C6-FBC0-8FF0-5D7B3A73C740}"/>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E8D27FD-E03A-0E0E-AB3E-38E924EFE1B2}"/>
              </a:ext>
            </a:extLst>
          </p:cNvPr>
          <p:cNvSpPr>
            <a:spLocks noGrp="1"/>
          </p:cNvSpPr>
          <p:nvPr>
            <p:ph type="dt" sz="half" idx="10"/>
          </p:nvPr>
        </p:nvSpPr>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E2EEDCE9-F448-A2FD-439E-14D40CC5EA71}"/>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E5496849-6DCA-E24C-CDD1-97927D50A24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2C2AA91-0575-402D-E032-7D6EDDE874A6}"/>
              </a:ext>
            </a:extLst>
          </p:cNvPr>
          <p:cNvSpPr>
            <a:spLocks noGrp="1"/>
          </p:cNvSpPr>
          <p:nvPr>
            <p:ph type="ftr" sz="quarter" idx="11"/>
          </p:nvPr>
        </p:nvSpPr>
        <p:spPr>
          <a:xfrm>
            <a:off x="4038600" y="6356350"/>
            <a:ext cx="4114800" cy="365125"/>
          </a:xfrm>
        </p:spPr>
        <p:txBody>
          <a:bodyPr/>
          <a:lstStyle/>
          <a:p>
            <a:r>
              <a:rPr lang="en-US" dirty="0"/>
              <a:t>REVIEW – 1  </a:t>
            </a:r>
          </a:p>
        </p:txBody>
      </p:sp>
      <p:graphicFrame>
        <p:nvGraphicFramePr>
          <p:cNvPr id="3" name="Content Placeholder 6">
            <a:extLst>
              <a:ext uri="{FF2B5EF4-FFF2-40B4-BE49-F238E27FC236}">
                <a16:creationId xmlns:a16="http://schemas.microsoft.com/office/drawing/2014/main" id="{06AF4FFC-A337-4020-6386-2132F82CBCAC}"/>
              </a:ext>
            </a:extLst>
          </p:cNvPr>
          <p:cNvGraphicFramePr>
            <a:graphicFrameLocks noGrp="1"/>
          </p:cNvGraphicFramePr>
          <p:nvPr>
            <p:ph idx="1"/>
            <p:extLst>
              <p:ext uri="{D42A27DB-BD31-4B8C-83A1-F6EECF244321}">
                <p14:modId xmlns:p14="http://schemas.microsoft.com/office/powerpoint/2010/main" val="1285320220"/>
              </p:ext>
            </p:extLst>
          </p:nvPr>
        </p:nvGraphicFramePr>
        <p:xfrm>
          <a:off x="205483" y="877254"/>
          <a:ext cx="11763910" cy="5442322"/>
        </p:xfrm>
        <a:graphic>
          <a:graphicData uri="http://schemas.openxmlformats.org/drawingml/2006/table">
            <a:tbl>
              <a:tblPr/>
              <a:tblGrid>
                <a:gridCol w="2822307">
                  <a:extLst>
                    <a:ext uri="{9D8B030D-6E8A-4147-A177-3AD203B41FA5}">
                      <a16:colId xmlns:a16="http://schemas.microsoft.com/office/drawing/2014/main" val="2914338365"/>
                    </a:ext>
                  </a:extLst>
                </a:gridCol>
                <a:gridCol w="3035755">
                  <a:extLst>
                    <a:ext uri="{9D8B030D-6E8A-4147-A177-3AD203B41FA5}">
                      <a16:colId xmlns:a16="http://schemas.microsoft.com/office/drawing/2014/main" val="84625793"/>
                    </a:ext>
                  </a:extLst>
                </a:gridCol>
                <a:gridCol w="2952924">
                  <a:extLst>
                    <a:ext uri="{9D8B030D-6E8A-4147-A177-3AD203B41FA5}">
                      <a16:colId xmlns:a16="http://schemas.microsoft.com/office/drawing/2014/main" val="2110254283"/>
                    </a:ext>
                  </a:extLst>
                </a:gridCol>
                <a:gridCol w="2952924">
                  <a:extLst>
                    <a:ext uri="{9D8B030D-6E8A-4147-A177-3AD203B41FA5}">
                      <a16:colId xmlns:a16="http://schemas.microsoft.com/office/drawing/2014/main" val="671031542"/>
                    </a:ext>
                  </a:extLst>
                </a:gridCol>
              </a:tblGrid>
              <a:tr h="314542">
                <a:tc>
                  <a:txBody>
                    <a:bodyPr/>
                    <a:lstStyle/>
                    <a:p>
                      <a:r>
                        <a:rPr lang="en-IN"/>
                        <a:t>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Reference Link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Drawback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Future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4944730"/>
                  </a:ext>
                </a:extLst>
              </a:tr>
              <a:tr h="1080816">
                <a:tc>
                  <a:txBody>
                    <a:bodyPr/>
                    <a:lstStyle/>
                    <a:p>
                      <a:r>
                        <a:rPr lang="en-US"/>
                        <a:t>Credit Card Fraud Detection Using Neural Networks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3"/>
                        </a:rPr>
                        <a:t>https://ieeexplore.ieee.org/document/8454906</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Neural networks require large training datasets and longer training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optimized deep learning models and distributed training techniques.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5255332"/>
                  </a:ext>
                </a:extLst>
              </a:tr>
              <a:tr h="1080816">
                <a:tc>
                  <a:txBody>
                    <a:bodyPr/>
                    <a:lstStyle/>
                    <a:p>
                      <a:r>
                        <a:rPr lang="en-US"/>
                        <a:t>Online Payment Fraud Detection Using Data Mining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4"/>
                        </a:rPr>
                        <a:t>https://link.springer.com/article/10.1007/s11042-019-08417-3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Data mining techniques struggle with evolving fraud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Integrate adaptive machine learning algorithms that update continuously.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315708"/>
                  </a:ext>
                </a:extLst>
              </a:tr>
              <a:tr h="953389">
                <a:tc>
                  <a:txBody>
                    <a:bodyPr/>
                    <a:lstStyle/>
                    <a:p>
                      <a:r>
                        <a:rPr lang="en-US"/>
                        <a:t>Machine Learning Approaches for Financial Fraud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5"/>
                        </a:rPr>
                        <a:t>https://arxiv.org/abs/2003.06558</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High computational complexity for large transaction datasets.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 distributed big data frameworks like Spark for scalable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0724141"/>
                  </a:ext>
                </a:extLst>
              </a:tr>
              <a:tr h="1047141">
                <a:tc>
                  <a:txBody>
                    <a:bodyPr/>
                    <a:lstStyle/>
                    <a:p>
                      <a:r>
                        <a:rPr lang="en-US"/>
                        <a:t>Fraud Detection in Electronic Payment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6"/>
                        </a:rPr>
                        <a:t>https://ieeexplore.ieee.org/document/8074713</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Difficulty detecting new or unknown fraud patterns.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Implement hybrid models combining anomaly detection and supervised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6065698"/>
                  </a:ext>
                </a:extLst>
              </a:tr>
              <a:tr h="841358">
                <a:tc>
                  <a:txBody>
                    <a:bodyPr/>
                    <a:lstStyle/>
                    <a:p>
                      <a:r>
                        <a:rPr lang="en-IN"/>
                        <a:t>Big Data Techniques for Financial Fraud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hlinkClick r:id="rId7"/>
                        </a:rPr>
                        <a:t>https://www.sciencedirect.com/science/article/pii/S0957417419301622</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Large storage and processing requirements for big data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Cloud-based big data architectures and optimized storage solutions.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6343738"/>
                  </a:ext>
                </a:extLst>
              </a:tr>
            </a:tbl>
          </a:graphicData>
        </a:graphic>
      </p:graphicFrame>
    </p:spTree>
    <p:extLst>
      <p:ext uri="{BB962C8B-B14F-4D97-AF65-F5344CB8AC3E}">
        <p14:creationId xmlns:p14="http://schemas.microsoft.com/office/powerpoint/2010/main" val="749269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297403"/>
            <a:ext cx="10173182" cy="1128009"/>
          </a:xfrm>
        </p:spPr>
        <p:txBody>
          <a:bodyPr/>
          <a:lstStyle/>
          <a:p>
            <a:pPr algn="ctr"/>
            <a:r>
              <a:rPr lang="en-IN" b="1" dirty="0">
                <a:latin typeface="Times New Roman" panose="02020603050405020304" pitchFamily="18" charset="0"/>
                <a:cs typeface="Times New Roman" panose="02020603050405020304" pitchFamily="18" charset="0"/>
              </a:rPr>
              <a:t>Proposed Method</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a:xfrm>
            <a:off x="838200" y="6356746"/>
            <a:ext cx="2743200" cy="365125"/>
          </a:xfrm>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a:xfrm>
            <a:off x="8610600" y="6356746"/>
            <a:ext cx="2743200" cy="365125"/>
          </a:xfrm>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0"/>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746"/>
            <a:ext cx="4114800" cy="365125"/>
          </a:xfrm>
        </p:spPr>
        <p:txBody>
          <a:bodyPr/>
          <a:lstStyle/>
          <a:p>
            <a:r>
              <a:rPr lang="en-US" dirty="0"/>
              <a:t>REVIEW – 1    </a:t>
            </a:r>
          </a:p>
        </p:txBody>
      </p:sp>
      <p:pic>
        <p:nvPicPr>
          <p:cNvPr id="11" name="Picture 10">
            <a:extLst>
              <a:ext uri="{FF2B5EF4-FFF2-40B4-BE49-F238E27FC236}">
                <a16:creationId xmlns:a16="http://schemas.microsoft.com/office/drawing/2014/main" id="{313DCA4C-820E-42E7-6F55-F90A3C524C23}"/>
              </a:ext>
            </a:extLst>
          </p:cNvPr>
          <p:cNvPicPr>
            <a:picLocks noChangeAspect="1"/>
          </p:cNvPicPr>
          <p:nvPr/>
        </p:nvPicPr>
        <p:blipFill>
          <a:blip r:embed="rId3"/>
          <a:stretch>
            <a:fillRect/>
          </a:stretch>
        </p:blipFill>
        <p:spPr>
          <a:xfrm>
            <a:off x="952500" y="1136002"/>
            <a:ext cx="10287000" cy="4805680"/>
          </a:xfrm>
          <a:prstGeom prst="rect">
            <a:avLst/>
          </a:prstGeom>
        </p:spPr>
      </p:pic>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223709"/>
            <a:ext cx="10173182" cy="1128009"/>
          </a:xfrm>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530439" y="914571"/>
            <a:ext cx="5736770" cy="5719720"/>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Tools and Technologies Used</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Apache Spark</a:t>
            </a:r>
          </a:p>
          <a:p>
            <a:r>
              <a:rPr lang="en-US" sz="2000"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PySpark</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Scikit-learn</a:t>
            </a:r>
          </a:p>
          <a:p>
            <a:r>
              <a:rPr lang="en-US" sz="2000" dirty="0" err="1">
                <a:latin typeface="Times New Roman" panose="02020603050405020304" pitchFamily="18" charset="0"/>
                <a:cs typeface="Times New Roman" panose="02020603050405020304" pitchFamily="18" charset="0"/>
              </a:rPr>
              <a:t>XGBoost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PostgreSQL</a:t>
            </a:r>
          </a:p>
          <a:p>
            <a:r>
              <a:rPr lang="en-US" sz="2000" dirty="0">
                <a:latin typeface="Times New Roman" panose="02020603050405020304" pitchFamily="18" charset="0"/>
                <a:cs typeface="Times New Roman" panose="02020603050405020304" pitchFamily="18" charset="0"/>
              </a:rPr>
              <a:t>React Dashboard</a:t>
            </a:r>
          </a:p>
          <a:p>
            <a:r>
              <a:rPr lang="en-US" sz="2000" dirty="0">
                <a:latin typeface="Times New Roman" panose="02020603050405020304" pitchFamily="18" charset="0"/>
                <a:cs typeface="Times New Roman" panose="02020603050405020304" pitchFamily="18" charset="0"/>
              </a:rPr>
              <a:t>Tailwind CSS</a:t>
            </a:r>
          </a:p>
          <a:p>
            <a:r>
              <a:rPr lang="en-US" sz="2000" dirty="0">
                <a:latin typeface="Times New Roman" panose="02020603050405020304" pitchFamily="18" charset="0"/>
                <a:cs typeface="Times New Roman" panose="02020603050405020304" pitchFamily="18" charset="0"/>
              </a:rPr>
              <a:t>Recharts/Chart.js</a:t>
            </a:r>
          </a:p>
          <a:p>
            <a:r>
              <a:rPr lang="en-US" sz="2000" b="1" dirty="0">
                <a:latin typeface="Times New Roman" panose="02020603050405020304" pitchFamily="18" charset="0"/>
                <a:cs typeface="Times New Roman" panose="02020603050405020304" pitchFamily="18" charset="0"/>
              </a:rPr>
              <a:t>Dataset</a:t>
            </a:r>
          </a:p>
          <a:p>
            <a:r>
              <a:rPr lang="en-IN" sz="2000" dirty="0"/>
              <a:t>Transaction ID</a:t>
            </a:r>
            <a:br>
              <a:rPr lang="en-IN" sz="2000" dirty="0"/>
            </a:br>
            <a:r>
              <a:rPr lang="en-IN" sz="2000" dirty="0"/>
              <a:t>• Card ID</a:t>
            </a:r>
            <a:br>
              <a:rPr lang="en-IN" sz="2000" dirty="0"/>
            </a:br>
            <a:r>
              <a:rPr lang="en-IN" sz="2000" dirty="0"/>
              <a:t>• Transaction Amount</a:t>
            </a:r>
            <a:br>
              <a:rPr lang="en-IN" sz="2000" dirty="0"/>
            </a:br>
            <a:r>
              <a:rPr lang="en-IN" sz="2000" dirty="0"/>
              <a:t>• Merchant Category</a:t>
            </a:r>
            <a:br>
              <a:rPr lang="en-IN" sz="2000" dirty="0"/>
            </a:br>
            <a:r>
              <a:rPr lang="en-IN" sz="2000" dirty="0"/>
              <a:t>• Transaction Location</a:t>
            </a:r>
            <a:br>
              <a:rPr lang="en-IN" sz="2000" dirty="0"/>
            </a:br>
            <a:r>
              <a:rPr lang="en-IN" sz="2000" dirty="0"/>
              <a:t>• Transaction Time</a:t>
            </a:r>
            <a:endParaRPr lang="en-US" sz="20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a:xfrm>
            <a:off x="838200" y="6492875"/>
            <a:ext cx="2743200" cy="365125"/>
          </a:xfrm>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3"/>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1   </a:t>
            </a:r>
          </a:p>
        </p:txBody>
      </p:sp>
      <p:sp>
        <p:nvSpPr>
          <p:cNvPr id="4" name="Content Placeholder 8">
            <a:extLst>
              <a:ext uri="{FF2B5EF4-FFF2-40B4-BE49-F238E27FC236}">
                <a16:creationId xmlns:a16="http://schemas.microsoft.com/office/drawing/2014/main" id="{CB451393-98ED-BDA8-C5E5-DF29C79A359A}"/>
              </a:ext>
            </a:extLst>
          </p:cNvPr>
          <p:cNvSpPr txBox="1">
            <a:spLocks/>
          </p:cNvSpPr>
          <p:nvPr/>
        </p:nvSpPr>
        <p:spPr>
          <a:xfrm>
            <a:off x="6267209" y="1093128"/>
            <a:ext cx="5736770" cy="56396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latin typeface="Times New Roman" panose="02020603050405020304" pitchFamily="18" charset="0"/>
                <a:cs typeface="Times New Roman" panose="02020603050405020304" pitchFamily="18" charset="0"/>
              </a:rPr>
              <a:t>Log Fields</a:t>
            </a:r>
            <a:endParaRPr lang="en-US" sz="2000" dirty="0">
              <a:latin typeface="Times New Roman" panose="02020603050405020304" pitchFamily="18" charset="0"/>
              <a:cs typeface="Times New Roman" panose="02020603050405020304" pitchFamily="18" charset="0"/>
            </a:endParaRPr>
          </a:p>
          <a:p>
            <a:r>
              <a:rPr lang="en-IN" sz="2000" dirty="0"/>
              <a:t>Transaction ID</a:t>
            </a:r>
          </a:p>
          <a:p>
            <a:r>
              <a:rPr lang="en-IN" sz="2000" dirty="0"/>
              <a:t>Card ID</a:t>
            </a:r>
          </a:p>
          <a:p>
            <a:r>
              <a:rPr lang="en-IN" sz="2000" dirty="0"/>
              <a:t> Transaction Amount</a:t>
            </a:r>
          </a:p>
          <a:p>
            <a:r>
              <a:rPr lang="en-IN" sz="2000" dirty="0"/>
              <a:t> Merchant Category</a:t>
            </a:r>
          </a:p>
          <a:p>
            <a:r>
              <a:rPr lang="en-IN" sz="2000" dirty="0"/>
              <a:t> Transaction Location</a:t>
            </a:r>
          </a:p>
          <a:p>
            <a:r>
              <a:rPr lang="en-IN" sz="2000" dirty="0"/>
              <a:t> Transaction Timestamp</a:t>
            </a:r>
          </a:p>
          <a:p>
            <a:r>
              <a:rPr lang="en-IN" sz="2000" dirty="0"/>
              <a:t> Transaction Type (Online / POS / Transfer)</a:t>
            </a:r>
          </a:p>
          <a:p>
            <a:r>
              <a:rPr lang="en-IN" sz="2000" dirty="0"/>
              <a:t> Fraud Prediction</a:t>
            </a:r>
          </a:p>
          <a:p>
            <a:r>
              <a:rPr lang="en-IN" sz="2000" dirty="0"/>
              <a:t> Risk Score</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Example </a:t>
            </a:r>
            <a:r>
              <a:rPr lang="en-US" sz="2000" b="1" dirty="0" err="1">
                <a:latin typeface="Times New Roman" panose="02020603050405020304" pitchFamily="18" charset="0"/>
                <a:cs typeface="Times New Roman" panose="02020603050405020304" pitchFamily="18" charset="0"/>
              </a:rPr>
              <a:t>dataset</a:t>
            </a:r>
            <a:r>
              <a:rPr lang="en-US" sz="2000" dirty="0" err="1">
                <a:latin typeface="Times New Roman" panose="02020603050405020304" pitchFamily="18" charset="0"/>
                <a:cs typeface="Times New Roman" panose="02020603050405020304" pitchFamily="18" charset="0"/>
              </a:rPr>
              <a:t>:Transaction_ID</a:t>
            </a:r>
            <a:r>
              <a:rPr lang="en-US" sz="2000" dirty="0">
                <a:latin typeface="Times New Roman" panose="02020603050405020304" pitchFamily="18" charset="0"/>
                <a:cs typeface="Times New Roman" panose="02020603050405020304" pitchFamily="18" charset="0"/>
              </a:rPr>
              <a:t>: TXN1087</a:t>
            </a:r>
          </a:p>
          <a:p>
            <a:pPr marL="0" indent="0">
              <a:buNone/>
            </a:pPr>
            <a:r>
              <a:rPr lang="en-US" sz="2000" dirty="0" err="1">
                <a:latin typeface="Times New Roman" panose="02020603050405020304" pitchFamily="18" charset="0"/>
                <a:cs typeface="Times New Roman" panose="02020603050405020304" pitchFamily="18" charset="0"/>
              </a:rPr>
              <a:t>Card_ID</a:t>
            </a:r>
            <a:r>
              <a:rPr lang="en-US" sz="2000" dirty="0">
                <a:latin typeface="Times New Roman" panose="02020603050405020304" pitchFamily="18" charset="0"/>
                <a:cs typeface="Times New Roman" panose="02020603050405020304" pitchFamily="18" charset="0"/>
              </a:rPr>
              <a:t>: 4921-****-****-2866</a:t>
            </a:r>
          </a:p>
          <a:p>
            <a:pPr marL="0" indent="0">
              <a:buNone/>
            </a:pPr>
            <a:r>
              <a:rPr lang="en-US" sz="2000" dirty="0">
                <a:latin typeface="Times New Roman" panose="02020603050405020304" pitchFamily="18" charset="0"/>
                <a:cs typeface="Times New Roman" panose="02020603050405020304" pitchFamily="18" charset="0"/>
              </a:rPr>
              <a:t>Amount: $245.90</a:t>
            </a:r>
          </a:p>
          <a:p>
            <a:pPr marL="0" indent="0">
              <a:buNone/>
            </a:pPr>
            <a:r>
              <a:rPr lang="en-US" sz="2000" dirty="0">
                <a:latin typeface="Times New Roman" panose="02020603050405020304" pitchFamily="18" charset="0"/>
                <a:cs typeface="Times New Roman" panose="02020603050405020304" pitchFamily="18" charset="0"/>
              </a:rPr>
              <a:t>Location: Mumbai, IN</a:t>
            </a:r>
          </a:p>
        </p:txBody>
      </p:sp>
    </p:spTree>
    <p:extLst>
      <p:ext uri="{BB962C8B-B14F-4D97-AF65-F5344CB8AC3E}">
        <p14:creationId xmlns:p14="http://schemas.microsoft.com/office/powerpoint/2010/main" val="3350041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4A9AF-CC3B-E2A3-C1EB-528E5774C278}"/>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Fraud Detection Dashboard</a:t>
            </a:r>
          </a:p>
        </p:txBody>
      </p:sp>
      <p:sp>
        <p:nvSpPr>
          <p:cNvPr id="3" name="Content Placeholder 2">
            <a:extLst>
              <a:ext uri="{FF2B5EF4-FFF2-40B4-BE49-F238E27FC236}">
                <a16:creationId xmlns:a16="http://schemas.microsoft.com/office/drawing/2014/main" id="{4E2BA232-438C-23C0-5A7B-099BA591F9C1}"/>
              </a:ext>
            </a:extLst>
          </p:cNvPr>
          <p:cNvSpPr>
            <a:spLocks noGrp="1"/>
          </p:cNvSpPr>
          <p:nvPr>
            <p:ph idx="1"/>
          </p:nvPr>
        </p:nvSpPr>
        <p:spPr>
          <a:xfrm>
            <a:off x="838200" y="1253331"/>
            <a:ext cx="10515600" cy="4351338"/>
          </a:xfrm>
        </p:spPr>
        <p:txBody>
          <a:bodyPr>
            <a:normAutofit/>
          </a:bodyPr>
          <a:lstStyle/>
          <a:p>
            <a:r>
              <a:rPr lang="en-US" sz="2000" dirty="0">
                <a:latin typeface="Times New Roman" panose="02020603050405020304" pitchFamily="18" charset="0"/>
                <a:cs typeface="Times New Roman" panose="02020603050405020304" pitchFamily="18" charset="0"/>
              </a:rPr>
              <a:t>The dashboard provides real-time monitoring of transactions.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Features:</a:t>
            </a:r>
          </a:p>
          <a:p>
            <a:r>
              <a:rPr lang="en-US" sz="2000" dirty="0">
                <a:latin typeface="Times New Roman" panose="02020603050405020304" pitchFamily="18" charset="0"/>
                <a:cs typeface="Times New Roman" panose="02020603050405020304" pitchFamily="18" charset="0"/>
              </a:rPr>
              <a:t>Total Transactions</a:t>
            </a:r>
          </a:p>
          <a:p>
            <a:r>
              <a:rPr lang="en-US" sz="2000" dirty="0">
                <a:latin typeface="Times New Roman" panose="02020603050405020304" pitchFamily="18" charset="0"/>
                <a:cs typeface="Times New Roman" panose="02020603050405020304" pitchFamily="18" charset="0"/>
              </a:rPr>
              <a:t>Fraud Transactions</a:t>
            </a:r>
          </a:p>
          <a:p>
            <a:r>
              <a:rPr lang="en-US" sz="2000" dirty="0">
                <a:latin typeface="Times New Roman" panose="02020603050405020304" pitchFamily="18" charset="0"/>
                <a:cs typeface="Times New Roman" panose="02020603050405020304" pitchFamily="18" charset="0"/>
              </a:rPr>
              <a:t>Fraud Rate</a:t>
            </a:r>
          </a:p>
          <a:p>
            <a:r>
              <a:rPr lang="en-US" sz="2000" dirty="0">
                <a:latin typeface="Times New Roman" panose="02020603050405020304" pitchFamily="18" charset="0"/>
                <a:cs typeface="Times New Roman" panose="02020603050405020304" pitchFamily="18" charset="0"/>
              </a:rPr>
              <a:t>Transaction Amount Distribution</a:t>
            </a:r>
          </a:p>
          <a:p>
            <a:r>
              <a:rPr lang="en-US" sz="2000" dirty="0">
                <a:latin typeface="Times New Roman" panose="02020603050405020304" pitchFamily="18" charset="0"/>
                <a:cs typeface="Times New Roman" panose="02020603050405020304" pitchFamily="18" charset="0"/>
              </a:rPr>
              <a:t>Fraud Probability Distribution</a:t>
            </a:r>
          </a:p>
          <a:p>
            <a:r>
              <a:rPr lang="en-US" sz="2000" dirty="0">
                <a:latin typeface="Times New Roman" panose="02020603050405020304" pitchFamily="18" charset="0"/>
                <a:cs typeface="Times New Roman" panose="02020603050405020304" pitchFamily="18" charset="0"/>
              </a:rPr>
              <a:t>Real-Time Transaction Table</a:t>
            </a:r>
          </a:p>
          <a:p>
            <a:endParaRPr lang="en-IN" dirty="0"/>
          </a:p>
        </p:txBody>
      </p:sp>
      <p:sp>
        <p:nvSpPr>
          <p:cNvPr id="4" name="Date Placeholder 3">
            <a:extLst>
              <a:ext uri="{FF2B5EF4-FFF2-40B4-BE49-F238E27FC236}">
                <a16:creationId xmlns:a16="http://schemas.microsoft.com/office/drawing/2014/main" id="{32071908-AB50-30D8-8F42-F48541DF1871}"/>
              </a:ext>
            </a:extLst>
          </p:cNvPr>
          <p:cNvSpPr>
            <a:spLocks noGrp="1"/>
          </p:cNvSpPr>
          <p:nvPr>
            <p:ph type="dt" sz="half" idx="10"/>
          </p:nvPr>
        </p:nvSpPr>
        <p:spPr/>
        <p:txBody>
          <a:bodyPr/>
          <a:lstStyle/>
          <a:p>
            <a:fld id="{C7A4DE8B-8D6B-8C46-B882-6A2CD2BC96F0}" type="datetime1">
              <a:rPr lang="en-IN" smtClean="0"/>
              <a:t>05-03-2026</a:t>
            </a:fld>
            <a:endParaRPr lang="en-US" dirty="0"/>
          </a:p>
        </p:txBody>
      </p:sp>
      <p:sp>
        <p:nvSpPr>
          <p:cNvPr id="5" name="Footer Placeholder 4">
            <a:extLst>
              <a:ext uri="{FF2B5EF4-FFF2-40B4-BE49-F238E27FC236}">
                <a16:creationId xmlns:a16="http://schemas.microsoft.com/office/drawing/2014/main" id="{525CF44A-72C7-CD18-4099-5A3A8DDC7403}"/>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956DA1AA-5FB4-DCED-B23C-821F2EDCC569}"/>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3861900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45034"/>
            <a:ext cx="10173182" cy="1128009"/>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473044"/>
            <a:ext cx="10515600" cy="5248432"/>
          </a:xfrm>
        </p:spPr>
        <p:txBody>
          <a:bodyPr>
            <a:normAutofit/>
          </a:bodyPr>
          <a:lstStyle/>
          <a:p>
            <a:r>
              <a:rPr lang="en-US" sz="2000" dirty="0">
                <a:latin typeface="Times New Roman" panose="02020603050405020304" pitchFamily="18" charset="0"/>
                <a:cs typeface="Times New Roman" panose="02020603050405020304" pitchFamily="18" charset="0"/>
              </a:rPr>
              <a:t>This project demonstrates a real-time credit card fraud detection system using Apache Kafka, Apache Spark, and machine learning. The system processes large volumes of transaction data efficiently and identifies suspicious activities in real time. The dashboard provides insights into transaction patterns and fraud alerts for quick monitoring.</a:t>
            </a:r>
          </a:p>
          <a:p>
            <a:pPr marL="0" indent="0">
              <a:buNone/>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Future Work</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Integration with real banking transaction systems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Deployment using cloud technologies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Use of advanced deep learning models for better fraud detection</a:t>
            </a: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716463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426770"/>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714307"/>
            <a:ext cx="10515600" cy="5002923"/>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Research Papers</a:t>
            </a:r>
          </a:p>
          <a:p>
            <a:r>
              <a:rPr lang="en-US" sz="2000" dirty="0">
                <a:latin typeface="Times New Roman" panose="02020603050405020304" pitchFamily="18" charset="0"/>
                <a:cs typeface="Times New Roman" panose="02020603050405020304" pitchFamily="18" charset="0"/>
              </a:rPr>
              <a:t>IEEE – Credit Card Fraud Detection Using Machine Learning</a:t>
            </a:r>
          </a:p>
          <a:p>
            <a:r>
              <a:rPr lang="en-US" sz="2000" dirty="0">
                <a:latin typeface="Times New Roman" panose="02020603050405020304" pitchFamily="18" charset="0"/>
                <a:cs typeface="Times New Roman" panose="02020603050405020304" pitchFamily="18" charset="0"/>
              </a:rPr>
              <a:t> Random Forest for Fraud Detection – </a:t>
            </a:r>
            <a:r>
              <a:rPr lang="en-US" sz="2000" dirty="0" err="1">
                <a:latin typeface="Times New Roman" panose="02020603050405020304" pitchFamily="18" charset="0"/>
                <a:cs typeface="Times New Roman" panose="02020603050405020304" pitchFamily="18" charset="0"/>
              </a:rPr>
              <a:t>arXiv</a:t>
            </a:r>
            <a:r>
              <a:rPr lang="en-US" sz="2000" dirty="0">
                <a:latin typeface="Times New Roman" panose="02020603050405020304" pitchFamily="18" charset="0"/>
                <a:cs typeface="Times New Roman" panose="02020603050405020304" pitchFamily="18" charset="0"/>
              </a:rPr>
              <a:t>  </a:t>
            </a:r>
          </a:p>
          <a:p>
            <a:pPr marL="0" indent="0">
              <a:buNone/>
            </a:pPr>
            <a:endParaRPr lang="en-US" sz="8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Apache Spark Documentation – </a:t>
            </a:r>
            <a:r>
              <a:rPr lang="en-IN" sz="2000" dirty="0">
                <a:latin typeface="Times New Roman" panose="02020603050405020304" pitchFamily="18" charset="0"/>
                <a:cs typeface="Times New Roman" panose="02020603050405020304" pitchFamily="18" charset="0"/>
                <a:hlinkClick r:id="rId2"/>
              </a:rPr>
              <a:t>https://spark.apache.org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Apache Kafka Documentation – </a:t>
            </a:r>
            <a:r>
              <a:rPr lang="en-IN" sz="2000" dirty="0">
                <a:latin typeface="Times New Roman" panose="02020603050405020304" pitchFamily="18" charset="0"/>
                <a:cs typeface="Times New Roman" panose="02020603050405020304" pitchFamily="18" charset="0"/>
                <a:hlinkClick r:id="rId3"/>
              </a:rPr>
              <a:t>https://kafka.apache.org</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Kaggle Credit Card Fraud Dataset – </a:t>
            </a:r>
            <a:r>
              <a:rPr lang="en-IN" sz="2000" dirty="0">
                <a:latin typeface="Times New Roman" panose="02020603050405020304" pitchFamily="18" charset="0"/>
                <a:cs typeface="Times New Roman" panose="02020603050405020304" pitchFamily="18" charset="0"/>
                <a:hlinkClick r:id="rId4"/>
              </a:rPr>
              <a:t>https://kaggle.com</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05-03-2026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5"/>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1    </a:t>
            </a:r>
          </a:p>
        </p:txBody>
      </p:sp>
    </p:spTree>
    <p:extLst>
      <p:ext uri="{BB962C8B-B14F-4D97-AF65-F5344CB8AC3E}">
        <p14:creationId xmlns:p14="http://schemas.microsoft.com/office/powerpoint/2010/main" val="2116982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05-03-2026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1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TotalTime>
  <Words>904</Words>
  <Application>Microsoft Office PowerPoint</Application>
  <PresentationFormat>Widescreen</PresentationFormat>
  <Paragraphs>183</Paragraphs>
  <Slides>12</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Credit Card Fraud Detection  REVIEW – 1  </vt:lpstr>
      <vt:lpstr>Outline</vt:lpstr>
      <vt:lpstr>Introduction</vt:lpstr>
      <vt:lpstr>Objectives </vt:lpstr>
      <vt:lpstr>Literature Survey</vt:lpstr>
      <vt:lpstr>PowerPoint Presentation</vt:lpstr>
      <vt:lpstr>Proposed Method</vt:lpstr>
      <vt:lpstr>Implementation</vt:lpstr>
      <vt:lpstr>Fraud Detection Dashboard</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REVIEW – 1  </dc:title>
  <cp:lastModifiedBy>Baddela Varshitha</cp:lastModifiedBy>
  <cp:revision>5</cp:revision>
  <dcterms:modified xsi:type="dcterms:W3CDTF">2026-03-05T16:26:43Z</dcterms:modified>
</cp:coreProperties>
</file>