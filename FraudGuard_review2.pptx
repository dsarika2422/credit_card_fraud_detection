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69" r:id="rId5"/>
    <p:sldId id="258" r:id="rId6"/>
    <p:sldId id="259" r:id="rId7"/>
    <p:sldId id="260" r:id="rId8"/>
    <p:sldId id="266" r:id="rId9"/>
    <p:sldId id="261" r:id="rId10"/>
    <p:sldId id="262" r:id="rId11"/>
    <p:sldId id="268" r:id="rId12"/>
    <p:sldId id="270"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65" autoAdjust="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ja Kusumitha" userId="2707e34f59af0ed9" providerId="LiveId" clId="{77382555-E474-45D1-8C43-890E283DAC6F}"/>
    <pc:docChg chg="custSel modSld">
      <pc:chgData name="Sajja Kusumitha" userId="2707e34f59af0ed9" providerId="LiveId" clId="{77382555-E474-45D1-8C43-890E283DAC6F}" dt="2026-03-05T03:57:09.866" v="48" actId="20577"/>
      <pc:docMkLst>
        <pc:docMk/>
      </pc:docMkLst>
      <pc:sldChg chg="modSp mod">
        <pc:chgData name="Sajja Kusumitha" userId="2707e34f59af0ed9" providerId="LiveId" clId="{77382555-E474-45D1-8C43-890E283DAC6F}" dt="2026-03-05T03:57:09.866" v="48" actId="20577"/>
        <pc:sldMkLst>
          <pc:docMk/>
          <pc:sldMk cId="0" sldId="257"/>
        </pc:sldMkLst>
        <pc:spChg chg="mod">
          <ac:chgData name="Sajja Kusumitha" userId="2707e34f59af0ed9" providerId="LiveId" clId="{77382555-E474-45D1-8C43-890E283DAC6F}" dt="2026-03-05T03:57:09.866" v="48" actId="20577"/>
          <ac:spMkLst>
            <pc:docMk/>
            <pc:sldMk cId="0" sldId="257"/>
            <ac:spMk id="8" creationId="{00000000-0000-0000-0000-000000000000}"/>
          </ac:spMkLst>
        </pc:spChg>
      </pc:sldChg>
      <pc:sldChg chg="addSp delSp modSp mod">
        <pc:chgData name="Sajja Kusumitha" userId="2707e34f59af0ed9" providerId="LiveId" clId="{77382555-E474-45D1-8C43-890E283DAC6F}" dt="2026-03-05T03:56:34.519" v="14" actId="14100"/>
        <pc:sldMkLst>
          <pc:docMk/>
          <pc:sldMk cId="2762340321" sldId="261"/>
        </pc:sldMkLst>
        <pc:spChg chg="del mod">
          <ac:chgData name="Sajja Kusumitha" userId="2707e34f59af0ed9" providerId="LiveId" clId="{77382555-E474-45D1-8C43-890E283DAC6F}" dt="2026-03-05T03:56:09.295" v="7" actId="478"/>
          <ac:spMkLst>
            <pc:docMk/>
            <pc:sldMk cId="2762340321" sldId="261"/>
            <ac:spMk id="9" creationId="{552B6941-B56F-78EF-6572-0086C4B21BD4}"/>
          </ac:spMkLst>
        </pc:spChg>
        <pc:spChg chg="mod">
          <ac:chgData name="Sajja Kusumitha" userId="2707e34f59af0ed9" providerId="LiveId" clId="{77382555-E474-45D1-8C43-890E283DAC6F}" dt="2026-03-05T03:48:05.201" v="3" actId="20577"/>
          <ac:spMkLst>
            <pc:docMk/>
            <pc:sldMk cId="2762340321" sldId="261"/>
            <ac:spMk id="10" creationId="{2201DB43-9F00-00F7-5CD5-CA9274B825F2}"/>
          </ac:spMkLst>
        </pc:spChg>
        <pc:picChg chg="add mod">
          <ac:chgData name="Sajja Kusumitha" userId="2707e34f59af0ed9" providerId="LiveId" clId="{77382555-E474-45D1-8C43-890E283DAC6F}" dt="2026-03-05T03:56:34.519" v="14" actId="14100"/>
          <ac:picMkLst>
            <pc:docMk/>
            <pc:sldMk cId="2762340321" sldId="261"/>
            <ac:picMk id="4" creationId="{B57F3E4D-40C8-EC3E-37B4-DA7033933614}"/>
          </ac:picMkLst>
        </pc:picChg>
      </pc:sldChg>
      <pc:sldChg chg="modSp mod">
        <pc:chgData name="Sajja Kusumitha" userId="2707e34f59af0ed9" providerId="LiveId" clId="{77382555-E474-45D1-8C43-890E283DAC6F}" dt="2026-03-05T03:48:18.139" v="5" actId="20577"/>
        <pc:sldMkLst>
          <pc:docMk/>
          <pc:sldMk cId="0" sldId="265"/>
        </pc:sldMkLst>
        <pc:spChg chg="mod">
          <ac:chgData name="Sajja Kusumitha" userId="2707e34f59af0ed9" providerId="LiveId" clId="{77382555-E474-45D1-8C43-890E283DAC6F}" dt="2026-03-05T03:48:18.139" v="5" actId="20577"/>
          <ac:spMkLst>
            <pc:docMk/>
            <pc:sldMk cId="0" sldId="265"/>
            <ac:spMk id="4" creationId="{AB03FB2E-4E33-CA9A-E5FC-A215D8D28E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3/6/2026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886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06-03-2026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06-03-2026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document/8716026" TargetMode="External"/><Relationship Id="rId7" Type="http://schemas.openxmlformats.org/officeDocument/2006/relationships/hyperlink" Target="https://ieeexplore.ieee.org/document/8489313"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1982X" TargetMode="External"/><Relationship Id="rId5" Type="http://schemas.openxmlformats.org/officeDocument/2006/relationships/hyperlink" Target="https://arxiv.org/abs/1908.04263" TargetMode="External"/><Relationship Id="rId4" Type="http://schemas.openxmlformats.org/officeDocument/2006/relationships/hyperlink" Target="https://link.springer.com/article/10.1007/s00521-020-04844-7"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document/8454906" TargetMode="External"/><Relationship Id="rId7" Type="http://schemas.openxmlformats.org/officeDocument/2006/relationships/hyperlink" Target="https://www.sciencedirect.com/science/article/pii/S095741741930162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ieeexplore.ieee.org/document/8074713" TargetMode="External"/><Relationship Id="rId5" Type="http://schemas.openxmlformats.org/officeDocument/2006/relationships/hyperlink" Target="https://arxiv.org/abs/2003.06558" TargetMode="External"/><Relationship Id="rId4" Type="http://schemas.openxmlformats.org/officeDocument/2006/relationships/hyperlink" Target="https://link.springer.com/article/10.1007/s11042-019-08417-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31260" y="797835"/>
            <a:ext cx="10515600" cy="1128395"/>
          </a:xfrm>
        </p:spPr>
        <p:txBody>
          <a:bodyPr>
            <a:noAutofit/>
          </a:bodyPr>
          <a:lstStyle/>
          <a:p>
            <a:pPr algn="ctr">
              <a:lnSpc>
                <a:spcPct val="100000"/>
              </a:lnSpc>
            </a:pPr>
            <a: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t>Credit Card Fraud Detection</a:t>
            </a:r>
            <a:br>
              <a:rPr lang="da-DK" sz="8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2320030223     B. Varshitha</a:t>
            </a:r>
          </a:p>
          <a:p>
            <a:pPr marL="0" indent="0" algn="just">
              <a:buNone/>
            </a:pPr>
            <a:r>
              <a:rPr lang="en-US" sz="2000" dirty="0">
                <a:latin typeface="Times New Roman" panose="02020603050405020304" pitchFamily="18" charset="0"/>
                <a:cs typeface="Times New Roman" panose="02020603050405020304" pitchFamily="18" charset="0"/>
              </a:rPr>
              <a:t>                                                            2320090045     D. Sarika</a:t>
            </a:r>
          </a:p>
          <a:p>
            <a:pPr marL="0" indent="0" algn="just">
              <a:buNone/>
            </a:pPr>
            <a:r>
              <a:rPr lang="en-US" sz="2000" dirty="0">
                <a:latin typeface="Times New Roman" panose="02020603050405020304" pitchFamily="18" charset="0"/>
                <a:cs typeface="Times New Roman" panose="02020603050405020304" pitchFamily="18" charset="0"/>
              </a:rPr>
              <a:t>                                                            2320090076     V. Vaishnavi</a:t>
            </a: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06-03-2026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535989"/>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Architecture</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Module Design </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7064-EE4A-5EF4-BFCB-BBD8B0C76022}"/>
              </a:ext>
            </a:extLst>
          </p:cNvPr>
          <p:cNvSpPr>
            <a:spLocks noGrp="1"/>
          </p:cNvSpPr>
          <p:nvPr>
            <p:ph type="title"/>
          </p:nvPr>
        </p:nvSpPr>
        <p:spPr>
          <a:xfrm>
            <a:off x="838200" y="231775"/>
            <a:ext cx="10515600" cy="62547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785BAB-B15E-E2C9-FE80-3F0F284FC44F}"/>
              </a:ext>
            </a:extLst>
          </p:cNvPr>
          <p:cNvSpPr>
            <a:spLocks noGrp="1"/>
          </p:cNvSpPr>
          <p:nvPr>
            <p:ph idx="1"/>
          </p:nvPr>
        </p:nvSpPr>
        <p:spPr>
          <a:xfrm>
            <a:off x="704849" y="857250"/>
            <a:ext cx="11382375" cy="5864225"/>
          </a:xfrm>
        </p:spPr>
        <p:txBody>
          <a:bodyPr>
            <a:no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rapid growth of digital payments has increased the risk of credit card fraud, making fraud detection an important challenge for financial institutions. Traditional systems use batch processing, which detects fraud only after transactions are stored, causing delays and potential financial losses. This project proposes a </a:t>
            </a:r>
            <a:r>
              <a:rPr lang="en-US" sz="2400" b="1" dirty="0">
                <a:latin typeface="Times New Roman" panose="02020603050405020304" pitchFamily="18" charset="0"/>
                <a:cs typeface="Times New Roman" panose="02020603050405020304" pitchFamily="18" charset="0"/>
              </a:rPr>
              <a:t>real-time credit card fraud detection system</a:t>
            </a:r>
            <a:r>
              <a:rPr lang="en-US" sz="2400" dirty="0">
                <a:latin typeface="Times New Roman" panose="02020603050405020304" pitchFamily="18" charset="0"/>
                <a:cs typeface="Times New Roman" panose="02020603050405020304" pitchFamily="18" charset="0"/>
              </a:rPr>
              <a:t> using big data and machine learning technologies. The system uses </a:t>
            </a:r>
            <a:r>
              <a:rPr lang="en-US" sz="2400" b="1" dirty="0">
                <a:latin typeface="Times New Roman" panose="02020603050405020304" pitchFamily="18" charset="0"/>
                <a:cs typeface="Times New Roman" panose="02020603050405020304" pitchFamily="18" charset="0"/>
              </a:rPr>
              <a:t>Apache Kafka</a:t>
            </a:r>
            <a:r>
              <a:rPr lang="en-US" sz="2400" dirty="0">
                <a:latin typeface="Times New Roman" panose="02020603050405020304" pitchFamily="18" charset="0"/>
                <a:cs typeface="Times New Roman" panose="02020603050405020304" pitchFamily="18" charset="0"/>
              </a:rPr>
              <a:t> for real-time transaction streaming, </a:t>
            </a:r>
            <a:r>
              <a:rPr lang="en-US" sz="2400" b="1" dirty="0">
                <a:latin typeface="Times New Roman" panose="02020603050405020304" pitchFamily="18" charset="0"/>
                <a:cs typeface="Times New Roman" panose="02020603050405020304" pitchFamily="18" charset="0"/>
              </a:rPr>
              <a:t>Apache Spark</a:t>
            </a:r>
            <a:r>
              <a:rPr lang="en-US" sz="2400" dirty="0">
                <a:latin typeface="Times New Roman" panose="02020603050405020304" pitchFamily="18" charset="0"/>
                <a:cs typeface="Times New Roman" panose="02020603050405020304" pitchFamily="18" charset="0"/>
              </a:rPr>
              <a:t> for large-scale data processing, and machine learning models to predict fraudulent transactions based on features like amount, location, time, and merchant details. A dashboard provides real-time visualization of transaction activities, including fraud rate and transaction statistics. The model is trained using the </a:t>
            </a:r>
            <a:r>
              <a:rPr lang="en-US" sz="2400" b="1" dirty="0">
                <a:latin typeface="Times New Roman" panose="02020603050405020304" pitchFamily="18" charset="0"/>
                <a:cs typeface="Times New Roman" panose="02020603050405020304" pitchFamily="18" charset="0"/>
              </a:rPr>
              <a:t>Kaggle Credit Card Fraud Detection Dataset</a:t>
            </a:r>
            <a:r>
              <a:rPr lang="en-US" sz="2400" dirty="0">
                <a:latin typeface="Times New Roman" panose="02020603050405020304" pitchFamily="18" charset="0"/>
                <a:cs typeface="Times New Roman" panose="02020603050405020304" pitchFamily="18" charset="0"/>
              </a:rPr>
              <a:t>. The system improves fraud detection by processing transactions instantly, reducing delays, and enabling quick response to suspicious activities. This scalable architecture can be further enhanced using cloud deployment and advanced deep learning models for higher accuracy.</a:t>
            </a:r>
          </a:p>
        </p:txBody>
      </p:sp>
      <p:sp>
        <p:nvSpPr>
          <p:cNvPr id="4" name="Date Placeholder 3">
            <a:extLst>
              <a:ext uri="{FF2B5EF4-FFF2-40B4-BE49-F238E27FC236}">
                <a16:creationId xmlns:a16="http://schemas.microsoft.com/office/drawing/2014/main" id="{9FC8D484-3D73-AC8A-3EDA-A05BC3F451DB}"/>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BD368721-B60C-E1F4-B479-B7478B69CEDA}"/>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06B7F65-3F0A-28A2-C418-DE7C47279A0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53548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r>
              <a:rPr lang="en-US" sz="2000" dirty="0"/>
              <a:t>Financial institutions process millions of credit card transactions </a:t>
            </a:r>
          </a:p>
          <a:p>
            <a:r>
              <a:rPr lang="en-US" sz="2000" dirty="0">
                <a:latin typeface="Times New Roman" panose="02020603050405020304" pitchFamily="18" charset="0"/>
                <a:cs typeface="Times New Roman" panose="02020603050405020304" pitchFamily="18" charset="0"/>
              </a:rPr>
              <a:t>With the rise of online payments, fraudulent activities are increasing rapidly.</a:t>
            </a:r>
          </a:p>
          <a:p>
            <a:r>
              <a:rPr lang="en-US" sz="2000" dirty="0">
                <a:latin typeface="Times New Roman" panose="02020603050405020304" pitchFamily="18" charset="0"/>
                <a:cs typeface="Times New Roman" panose="02020603050405020304" pitchFamily="18" charset="0"/>
              </a:rPr>
              <a:t>Traditional fraud detection systems rely on batch processing and cannot detect fraud instantly.</a:t>
            </a:r>
          </a:p>
          <a:p>
            <a:r>
              <a:rPr lang="en-US" sz="2000" dirty="0">
                <a:latin typeface="Times New Roman" panose="02020603050405020304" pitchFamily="18" charset="0"/>
                <a:cs typeface="Times New Roman" panose="02020603050405020304" pitchFamily="18" charset="0"/>
              </a:rPr>
              <a:t>This project proposes a real-time fraud detection system using streaming data processing and machine learning.</a:t>
            </a:r>
          </a:p>
          <a:p>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Banking Security</a:t>
            </a:r>
          </a:p>
          <a:p>
            <a:r>
              <a:rPr lang="en-US" sz="2000" dirty="0">
                <a:latin typeface="Times New Roman" panose="02020603050405020304" pitchFamily="18" charset="0"/>
                <a:cs typeface="Times New Roman" panose="02020603050405020304" pitchFamily="18" charset="0"/>
              </a:rPr>
              <a:t>Payment gateway monitoring </a:t>
            </a:r>
          </a:p>
          <a:p>
            <a:r>
              <a:rPr lang="en-US" sz="2000" dirty="0">
                <a:latin typeface="Times New Roman" panose="02020603050405020304" pitchFamily="18" charset="0"/>
                <a:cs typeface="Times New Roman" panose="02020603050405020304" pitchFamily="18" charset="0"/>
              </a:rPr>
              <a:t>Financial risk management</a:t>
            </a:r>
          </a:p>
          <a:p>
            <a:r>
              <a:rPr lang="en-US" sz="2000" dirty="0">
                <a:latin typeface="Times New Roman" panose="02020603050405020304" pitchFamily="18" charset="0"/>
                <a:cs typeface="Times New Roman" panose="02020603050405020304" pitchFamily="18" charset="0"/>
              </a:rPr>
              <a:t>Fraud prevention systems </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0" indent="0">
              <a:buNone/>
            </a:pPr>
            <a:endParaRPr 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Detect fraudulent credit card transactions in real time.</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Stream transaction data using Apache Kafka.</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Process large scale data using Apache Spark Structured Streaming.</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Apply machine learning models for fraud prediction.</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Visualize fraud analytics using an interactive dashboard.</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2271262435"/>
              </p:ext>
            </p:extLst>
          </p:nvPr>
        </p:nvGraphicFramePr>
        <p:xfrm>
          <a:off x="184935" y="952500"/>
          <a:ext cx="11815281" cy="5936227"/>
        </p:xfrm>
        <a:graphic>
          <a:graphicData uri="http://schemas.openxmlformats.org/drawingml/2006/table">
            <a:tbl>
              <a:tblPr/>
              <a:tblGrid>
                <a:gridCol w="2917824">
                  <a:extLst>
                    <a:ext uri="{9D8B030D-6E8A-4147-A177-3AD203B41FA5}">
                      <a16:colId xmlns:a16="http://schemas.microsoft.com/office/drawing/2014/main" val="2914338365"/>
                    </a:ext>
                  </a:extLst>
                </a:gridCol>
                <a:gridCol w="2955141">
                  <a:extLst>
                    <a:ext uri="{9D8B030D-6E8A-4147-A177-3AD203B41FA5}">
                      <a16:colId xmlns:a16="http://schemas.microsoft.com/office/drawing/2014/main" val="84625793"/>
                    </a:ext>
                  </a:extLst>
                </a:gridCol>
                <a:gridCol w="2976497">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76903">
                <a:tc>
                  <a:txBody>
                    <a:bodyPr/>
                    <a:lstStyle/>
                    <a:p>
                      <a:r>
                        <a:rPr lang="en-IN" dirty="0"/>
                        <a:t>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Reference 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Drawback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Future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224936">
                <a:tc>
                  <a:txBody>
                    <a:bodyPr/>
                    <a:lstStyle/>
                    <a:p>
                      <a:r>
                        <a:rPr lang="en-US"/>
                        <a:t>Credit Card Fraud Detection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hlinkClick r:id="rId3"/>
                        </a:rPr>
                        <a:t>https://ieeexplore.ieee.org/document/8716026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Limited performance when handling extremely imbalanced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advanced sampling techniques and ensemble learning models to improve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224936">
                <a:tc>
                  <a:txBody>
                    <a:bodyPr/>
                    <a:lstStyle/>
                    <a:p>
                      <a:r>
                        <a:rPr lang="en-US"/>
                        <a:t>Real-Time Credit Card Fraud Detection Using Streaming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hlinkClick r:id="rId4"/>
                        </a:rPr>
                        <a:t>https://link.springer.com/article/10.1007/s00521-020-04844-7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computational cost for real-time processing of massive transaction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Optimization using distributed streaming frameworks like Apache Spark.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1224936">
                <a:tc>
                  <a:txBody>
                    <a:bodyPr/>
                    <a:lstStyle/>
                    <a:p>
                      <a:r>
                        <a:rPr lang="en-US"/>
                        <a:t>Credit Card Fraud Detection with 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5"/>
                        </a:rPr>
                        <a:t>https://arxiv.org/abs/1908.04263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Deep learning models require large labeled datasets and high computational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Improve model efficiency using hybrid ML and deep learning approaches.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42258">
                <a:tc>
                  <a:txBody>
                    <a:bodyPr/>
                    <a:lstStyle/>
                    <a:p>
                      <a:r>
                        <a:rPr lang="en-US"/>
                        <a:t>Fraud Detection in Financial Transactions Using Big Data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6"/>
                        </a:rPr>
                        <a:t>https://www.sciencedirect.com/science/article/pii/S187705091731982X</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Difficult integration of big data technologies with traditional banking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Develop scalable cloud-based architectures for seamless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942258">
                <a:tc>
                  <a:txBody>
                    <a:bodyPr/>
                    <a:lstStyle/>
                    <a:p>
                      <a:r>
                        <a:rPr lang="en-US"/>
                        <a:t>Anomaly Detection for Fraud Transactions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7"/>
                        </a:rPr>
                        <a:t>https://ieeexplore.ieee.org/document/8489313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false positive rate affecting legitimate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Improve anomaly detection algorithms and feature engineering 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1285320220"/>
              </p:ext>
            </p:extLst>
          </p:nvPr>
        </p:nvGraphicFramePr>
        <p:xfrm>
          <a:off x="205483" y="877254"/>
          <a:ext cx="11763910" cy="5442322"/>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IN"/>
                        <a:t>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Reference 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Drawback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Future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en-US"/>
                        <a:t>Credit Card Fraud Detection Using Neural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3"/>
                        </a:rPr>
                        <a:t>https://ieeexplore.ieee.org/document/8454906</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Neural networks require large training datasets and longer training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optimized deep learning models and distributed training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a:t>Online Payment Fraud Detection Using Data Mining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4"/>
                        </a:rPr>
                        <a:t>https://link.springer.com/article/10.1007/s11042-019-08417-3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Data mining techniques struggle with evolving fraud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Integrate adaptive machine learning algorithms that update continuously.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a:t>Machine Learning Approaches for Financial Fraud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5"/>
                        </a:rPr>
                        <a:t>https://arxiv.org/abs/2003.06558</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computational complexity for large transaction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distributed big data frameworks like Spark for scalable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a:t>Fraud Detection in Electronic Payment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6"/>
                        </a:rPr>
                        <a:t>https://ieeexplore.ieee.org/document/8074713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Difficulty detecting new or unknown fraud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Implement hybrid models combining anomaly detection and supervised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IN"/>
                        <a:t>Big Data Techniques for Financial Fraud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7"/>
                        </a:rPr>
                        <a:t>https://www.sciencedirect.com/science/article/pii/S0957417419301622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Large storage and processing requirements for big data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Cloud-based big data architectures and optimized storage solutions.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403"/>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a:xfrm>
            <a:off x="838200" y="6356746"/>
            <a:ext cx="2743200" cy="365125"/>
          </a:xfrm>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a:xfrm>
            <a:off x="8610600" y="6356746"/>
            <a:ext cx="2743200" cy="365125"/>
          </a:xfrm>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0"/>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746"/>
            <a:ext cx="4114800" cy="365125"/>
          </a:xfrm>
        </p:spPr>
        <p:txBody>
          <a:bodyPr/>
          <a:lstStyle/>
          <a:p>
            <a:r>
              <a:rPr lang="en-US" dirty="0"/>
              <a:t>REVIEW – 1    </a:t>
            </a:r>
          </a:p>
        </p:txBody>
      </p:sp>
      <p:pic>
        <p:nvPicPr>
          <p:cNvPr id="11" name="Picture 10">
            <a:extLst>
              <a:ext uri="{FF2B5EF4-FFF2-40B4-BE49-F238E27FC236}">
                <a16:creationId xmlns:a16="http://schemas.microsoft.com/office/drawing/2014/main" id="{313DCA4C-820E-42E7-6F55-F90A3C524C23}"/>
              </a:ext>
            </a:extLst>
          </p:cNvPr>
          <p:cNvPicPr>
            <a:picLocks noChangeAspect="1"/>
          </p:cNvPicPr>
          <p:nvPr/>
        </p:nvPicPr>
        <p:blipFill>
          <a:blip r:embed="rId3"/>
          <a:stretch>
            <a:fillRect/>
          </a:stretch>
        </p:blipFill>
        <p:spPr>
          <a:xfrm>
            <a:off x="952500" y="1136002"/>
            <a:ext cx="10287000" cy="4805680"/>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530439" y="914571"/>
            <a:ext cx="5736770" cy="571972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Tools and Technologies Used</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Apache Spark</a:t>
            </a:r>
          </a:p>
          <a:p>
            <a:r>
              <a:rPr lang="en-US" sz="2000"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PySpark</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Scikit-learn</a:t>
            </a:r>
          </a:p>
          <a:p>
            <a:r>
              <a:rPr lang="en-US" sz="2000" dirty="0" err="1">
                <a:latin typeface="Times New Roman" panose="02020603050405020304" pitchFamily="18" charset="0"/>
                <a:cs typeface="Times New Roman" panose="02020603050405020304" pitchFamily="18" charset="0"/>
              </a:rPr>
              <a:t>XGBoost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PostgreSQL</a:t>
            </a:r>
          </a:p>
          <a:p>
            <a:r>
              <a:rPr lang="en-US" sz="2000" dirty="0">
                <a:latin typeface="Times New Roman" panose="02020603050405020304" pitchFamily="18" charset="0"/>
                <a:cs typeface="Times New Roman" panose="02020603050405020304" pitchFamily="18" charset="0"/>
              </a:rPr>
              <a:t>React Dashboard</a:t>
            </a:r>
          </a:p>
          <a:p>
            <a:r>
              <a:rPr lang="en-US" sz="2000" dirty="0">
                <a:latin typeface="Times New Roman" panose="02020603050405020304" pitchFamily="18" charset="0"/>
                <a:cs typeface="Times New Roman" panose="02020603050405020304" pitchFamily="18" charset="0"/>
              </a:rPr>
              <a:t>Tailwind CSS</a:t>
            </a:r>
          </a:p>
          <a:p>
            <a:r>
              <a:rPr lang="en-US" sz="2000" dirty="0">
                <a:latin typeface="Times New Roman" panose="02020603050405020304" pitchFamily="18" charset="0"/>
                <a:cs typeface="Times New Roman" panose="02020603050405020304" pitchFamily="18" charset="0"/>
              </a:rPr>
              <a:t>Recharts/Chart.js</a:t>
            </a:r>
          </a:p>
          <a:p>
            <a:r>
              <a:rPr lang="en-US" sz="2000" b="1" dirty="0">
                <a:latin typeface="Times New Roman" panose="02020603050405020304" pitchFamily="18" charset="0"/>
                <a:cs typeface="Times New Roman" panose="02020603050405020304" pitchFamily="18" charset="0"/>
              </a:rPr>
              <a:t>Dataset</a:t>
            </a:r>
          </a:p>
          <a:p>
            <a:r>
              <a:rPr lang="en-IN" sz="2000" dirty="0"/>
              <a:t>Transaction ID</a:t>
            </a:r>
            <a:br>
              <a:rPr lang="en-IN" sz="2000" dirty="0"/>
            </a:br>
            <a:r>
              <a:rPr lang="en-IN" sz="2000" dirty="0"/>
              <a:t>• Card ID</a:t>
            </a:r>
            <a:br>
              <a:rPr lang="en-IN" sz="2000" dirty="0"/>
            </a:br>
            <a:r>
              <a:rPr lang="en-IN" sz="2000" dirty="0"/>
              <a:t>• Transaction Amount</a:t>
            </a:r>
            <a:br>
              <a:rPr lang="en-IN" sz="2000" dirty="0"/>
            </a:br>
            <a:r>
              <a:rPr lang="en-IN" sz="2000" dirty="0"/>
              <a:t>• Merchant Category</a:t>
            </a:r>
            <a:br>
              <a:rPr lang="en-IN" sz="2000" dirty="0"/>
            </a:br>
            <a:r>
              <a:rPr lang="en-IN" sz="2000" dirty="0"/>
              <a:t>• Transaction Location</a:t>
            </a:r>
            <a:br>
              <a:rPr lang="en-IN" sz="2000" dirty="0"/>
            </a:br>
            <a:r>
              <a:rPr lang="en-IN" sz="2000" dirty="0"/>
              <a:t>• Transaction Time</a:t>
            </a:r>
            <a:endParaRPr lang="en-US" sz="20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a:xfrm>
            <a:off x="838200" y="6492875"/>
            <a:ext cx="2743200" cy="365125"/>
          </a:xfrm>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3"/>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267209" y="1093128"/>
            <a:ext cx="5736770" cy="56396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IN" sz="2000" dirty="0"/>
              <a:t>Transaction ID</a:t>
            </a:r>
          </a:p>
          <a:p>
            <a:r>
              <a:rPr lang="en-IN" sz="2000" dirty="0"/>
              <a:t>Card ID</a:t>
            </a:r>
          </a:p>
          <a:p>
            <a:r>
              <a:rPr lang="en-IN" sz="2000" dirty="0"/>
              <a:t> Transaction Amount</a:t>
            </a:r>
          </a:p>
          <a:p>
            <a:r>
              <a:rPr lang="en-IN" sz="2000" dirty="0"/>
              <a:t> Merchant Category</a:t>
            </a:r>
          </a:p>
          <a:p>
            <a:r>
              <a:rPr lang="en-IN" sz="2000" dirty="0"/>
              <a:t> Transaction Location</a:t>
            </a:r>
          </a:p>
          <a:p>
            <a:r>
              <a:rPr lang="en-IN" sz="2000" dirty="0"/>
              <a:t> Transaction Timestamp</a:t>
            </a:r>
          </a:p>
          <a:p>
            <a:r>
              <a:rPr lang="en-IN" sz="2000" dirty="0"/>
              <a:t> Transaction Type (Online / POS / Transfer)</a:t>
            </a:r>
          </a:p>
          <a:p>
            <a:r>
              <a:rPr lang="en-IN" sz="2000" dirty="0"/>
              <a:t> Fraud Prediction</a:t>
            </a:r>
          </a:p>
          <a:p>
            <a:r>
              <a:rPr lang="en-IN" sz="2000" dirty="0"/>
              <a:t> Risk Score</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Example </a:t>
            </a:r>
            <a:r>
              <a:rPr lang="en-US" sz="2000" b="1" dirty="0" err="1">
                <a:latin typeface="Times New Roman" panose="02020603050405020304" pitchFamily="18" charset="0"/>
                <a:cs typeface="Times New Roman" panose="02020603050405020304" pitchFamily="18" charset="0"/>
              </a:rPr>
              <a:t>dataset</a:t>
            </a:r>
            <a:r>
              <a:rPr lang="en-US" sz="2000" dirty="0" err="1">
                <a:latin typeface="Times New Roman" panose="02020603050405020304" pitchFamily="18" charset="0"/>
                <a:cs typeface="Times New Roman" panose="02020603050405020304" pitchFamily="18" charset="0"/>
              </a:rPr>
              <a:t>:Transaction_ID</a:t>
            </a:r>
            <a:r>
              <a:rPr lang="en-US" sz="2000" dirty="0">
                <a:latin typeface="Times New Roman" panose="02020603050405020304" pitchFamily="18" charset="0"/>
                <a:cs typeface="Times New Roman" panose="02020603050405020304" pitchFamily="18" charset="0"/>
              </a:rPr>
              <a:t>: TXN1087</a:t>
            </a:r>
          </a:p>
          <a:p>
            <a:pPr marL="0" indent="0">
              <a:buNone/>
            </a:pPr>
            <a:r>
              <a:rPr lang="en-US" sz="2000" dirty="0" err="1">
                <a:latin typeface="Times New Roman" panose="02020603050405020304" pitchFamily="18" charset="0"/>
                <a:cs typeface="Times New Roman" panose="02020603050405020304" pitchFamily="18" charset="0"/>
              </a:rPr>
              <a:t>Card_ID</a:t>
            </a:r>
            <a:r>
              <a:rPr lang="en-US" sz="2000" dirty="0">
                <a:latin typeface="Times New Roman" panose="02020603050405020304" pitchFamily="18" charset="0"/>
                <a:cs typeface="Times New Roman" panose="02020603050405020304" pitchFamily="18" charset="0"/>
              </a:rPr>
              <a:t>: 4921-****-****-2866</a:t>
            </a:r>
          </a:p>
          <a:p>
            <a:pPr marL="0" indent="0">
              <a:buNone/>
            </a:pPr>
            <a:r>
              <a:rPr lang="en-US" sz="2000" dirty="0">
                <a:latin typeface="Times New Roman" panose="02020603050405020304" pitchFamily="18" charset="0"/>
                <a:cs typeface="Times New Roman" panose="02020603050405020304" pitchFamily="18" charset="0"/>
              </a:rPr>
              <a:t>Amount: $245.90</a:t>
            </a:r>
          </a:p>
          <a:p>
            <a:pPr marL="0" indent="0">
              <a:buNone/>
            </a:pPr>
            <a:r>
              <a:rPr lang="en-US" sz="2000" dirty="0">
                <a:latin typeface="Times New Roman" panose="02020603050405020304" pitchFamily="18" charset="0"/>
                <a:cs typeface="Times New Roman" panose="02020603050405020304" pitchFamily="18" charset="0"/>
              </a:rPr>
              <a:t>Location: Mumbai, IN</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A90F016-53A2-CF38-6C36-9B78B4B22E09}"/>
              </a:ext>
            </a:extLst>
          </p:cNvPr>
          <p:cNvSpPr>
            <a:spLocks noGrp="1"/>
          </p:cNvSpPr>
          <p:nvPr>
            <p:ph type="title"/>
          </p:nvPr>
        </p:nvSpPr>
        <p:spPr>
          <a:xfrm>
            <a:off x="838200" y="12701"/>
            <a:ext cx="10515600" cy="1325563"/>
          </a:xfrm>
        </p:spPr>
        <p:txBody>
          <a:bodyPr/>
          <a:lstStyle/>
          <a:p>
            <a:pPr algn="ctr"/>
            <a:r>
              <a:rPr lang="en-US" b="1" dirty="0">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22EC616-F7AB-1FC7-82C4-DB67520EDA83}"/>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576AC10D-0E0D-2E7A-A360-BD0E8A4F6BC8}"/>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34A30F98-EC1C-71FC-1A75-952C3230A691}"/>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7" name="Content Placeholder 6">
            <a:extLst>
              <a:ext uri="{FF2B5EF4-FFF2-40B4-BE49-F238E27FC236}">
                <a16:creationId xmlns:a16="http://schemas.microsoft.com/office/drawing/2014/main" id="{690186D7-AB76-CB4A-CF9A-3EB2DDFDD665}"/>
              </a:ext>
            </a:extLst>
          </p:cNvPr>
          <p:cNvPicPr>
            <a:picLocks noGrp="1" noChangeAspect="1"/>
          </p:cNvPicPr>
          <p:nvPr>
            <p:ph idx="4294967295"/>
          </p:nvPr>
        </p:nvPicPr>
        <p:blipFill>
          <a:blip r:embed="rId2"/>
          <a:stretch>
            <a:fillRect/>
          </a:stretch>
        </p:blipFill>
        <p:spPr>
          <a:xfrm>
            <a:off x="1411524" y="1338264"/>
            <a:ext cx="8991600" cy="4802187"/>
          </a:xfrm>
          <a:prstGeom prst="rect">
            <a:avLst/>
          </a:prstGeom>
        </p:spPr>
      </p:pic>
    </p:spTree>
    <p:extLst>
      <p:ext uri="{BB962C8B-B14F-4D97-AF65-F5344CB8AC3E}">
        <p14:creationId xmlns:p14="http://schemas.microsoft.com/office/powerpoint/2010/main" val="86701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9F0C074-157C-F27B-5FD8-79160567F3BA}"/>
              </a:ext>
            </a:extLst>
          </p:cNvPr>
          <p:cNvPicPr>
            <a:picLocks noGrp="1" noChangeAspect="1"/>
          </p:cNvPicPr>
          <p:nvPr>
            <p:ph idx="1"/>
          </p:nvPr>
        </p:nvPicPr>
        <p:blipFill>
          <a:blip r:embed="rId2"/>
          <a:stretch>
            <a:fillRect/>
          </a:stretch>
        </p:blipFill>
        <p:spPr>
          <a:xfrm>
            <a:off x="1021404" y="1108953"/>
            <a:ext cx="10126494" cy="5116648"/>
          </a:xfrm>
        </p:spPr>
      </p:pic>
      <p:sp>
        <p:nvSpPr>
          <p:cNvPr id="4" name="Date Placeholder 3">
            <a:extLst>
              <a:ext uri="{FF2B5EF4-FFF2-40B4-BE49-F238E27FC236}">
                <a16:creationId xmlns:a16="http://schemas.microsoft.com/office/drawing/2014/main" id="{E0B31C1F-02CD-F949-4C6E-2E4CE66A9160}"/>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96B005D7-8C8B-504E-6DDF-D2E96F010E1B}"/>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086CAEC6-012B-5055-4177-21BC615A446B}"/>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73685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936</Words>
  <Application>Microsoft Office PowerPoint</Application>
  <PresentationFormat>Widescreen</PresentationFormat>
  <Paragraphs>167</Paragraphs>
  <Slides>12</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Credit Card Fraud Detection  REVIEW – 1  </vt:lpstr>
      <vt:lpstr>Outline</vt:lpstr>
      <vt:lpstr>Abstract</vt:lpstr>
      <vt:lpstr>Introduction</vt:lpstr>
      <vt:lpstr>Objectives </vt:lpstr>
      <vt:lpstr>Literature Survey</vt:lpstr>
      <vt:lpstr>PowerPoint Presentation</vt:lpstr>
      <vt:lpstr>Proposed Method</vt:lpstr>
      <vt:lpstr>Implementation</vt:lpstr>
      <vt:lpstr>Architecture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REVIEW – 1  </dc:title>
  <cp:lastModifiedBy>Baddela Varshitha</cp:lastModifiedBy>
  <cp:revision>6</cp:revision>
  <dcterms:modified xsi:type="dcterms:W3CDTF">2026-03-06T03:56:41Z</dcterms:modified>
</cp:coreProperties>
</file>